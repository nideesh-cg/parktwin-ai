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PEI Component Weights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(%)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Violation Frequency</c:v>
                  </c:pt>
                  <c:pt idx="1">
                    <c:v>Average Duration</c:v>
                  </c:pt>
                  <c:pt idx="2">
                    <c:v>Peak-Hour Severity</c:v>
                  </c:pt>
                  <c:pt idx="3">
                    <c:v>Junction Criticality</c:v>
                  </c:pt>
                  <c:pt idx="4">
                    <c:v>Real-Time Density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TIS Component Weights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 (%)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4F8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Recovery Speed</c:v>
                  </c:pt>
                  <c:pt idx="1">
                    <c:v>Intervention Effectiveness</c:v>
                  </c:pt>
                  <c:pt idx="2">
                    <c:v>Spillover Resistance</c:v>
                  </c:pt>
                  <c:pt idx="3">
                    <c:v>Recurrence Resistance</c:v>
                  </c:pt>
                  <c:pt idx="4">
                    <c:v>Sustainability Efficiency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paradigm: we're not building a detector, we're building a decision intelligence engine. Pause on the tagline.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today's tools count violations. They don't know which violations actually caused congestion. That gap is what ParkTwin AI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layer: Data → Processing → Hybrid Intelligence (historical + real-time in parallel) → Congestion Fusion → Simulation/Decision → Dashboard with feedback 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module that was designed was fully implemented. Highlight the two starred items — Traffic Memory and TIS — as going beyond the original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pass over each module. Emphasize that M3 (PEI) and M5 (Ripple) are the core novel contributions from the blueprint.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Traffic Memory and TIS are the two capabilities that went beyond the blueprint. Memory makes it learn from outcomes. TIS quantifies resilience — a research-grade metric no other team will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10-step autoplay is the judge demo. Walk them through it in under 2 minutes — each step lights up as you proceed. The finale is an auto-generated executive PDF briefing.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system has a FastAPI backend, Streamlit frontend, and is covered by 10 Pytest cases. Mention the test suite — it signals production-grade quality to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metrics share an identical 5-factor structure — which is intentional. PEI measures the burden a violation places on the network. TIS measures how well a node can absorb that burden. Together they define which junctions need intervention and which can self-recover.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strong: the progression from detection → causal impact → prediction → simulation → institutional memory → resilience scoring is what separates a counting tool from a command intelligence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here. Let the pitch sit. Offer to run the 10-step autoplay demo immediately.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594360" cy="5943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59436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71600" y="50292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ParkTwin AI</a:t>
            </a:r>
            <a:endParaRPr lang="en-US" sz="5800" dirty="0"/>
          </a:p>
        </p:txBody>
      </p:sp>
      <p:sp>
        <p:nvSpPr>
          <p:cNvPr id="6" name="Text 2"/>
          <p:cNvSpPr/>
          <p:nvPr/>
        </p:nvSpPr>
        <p:spPr>
          <a:xfrm>
            <a:off x="1371600" y="16916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6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Self-Learning Congestion-Aware Parking Intelligence Digital Twin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1371600" y="2395728"/>
            <a:ext cx="73152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Shape 4"/>
          <p:cNvSpPr/>
          <p:nvPr/>
        </p:nvSpPr>
        <p:spPr>
          <a:xfrm>
            <a:off x="1371600" y="260604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16325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371600" y="26517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1371600" y="32918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6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Implemented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931920" y="260604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16325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931920" y="26517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400" dirty="0"/>
          </a:p>
        </p:txBody>
      </p:sp>
      <p:sp>
        <p:nvSpPr>
          <p:cNvPr id="13" name="Text 9"/>
          <p:cNvSpPr/>
          <p:nvPr/>
        </p:nvSpPr>
        <p:spPr>
          <a:xfrm>
            <a:off x="3931920" y="32918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6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Innovations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92240" y="2606040"/>
            <a:ext cx="2286000" cy="1234440"/>
          </a:xfrm>
          <a:prstGeom prst="roundRect">
            <a:avLst>
              <a:gd name="adj" fmla="val 8889"/>
            </a:avLst>
          </a:prstGeom>
          <a:solidFill>
            <a:srgbClr val="163256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492240" y="26517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400" dirty="0"/>
          </a:p>
        </p:txBody>
      </p:sp>
      <p:sp>
        <p:nvSpPr>
          <p:cNvPr id="16" name="Text 12"/>
          <p:cNvSpPr/>
          <p:nvPr/>
        </p:nvSpPr>
        <p:spPr>
          <a:xfrm>
            <a:off x="6492240" y="329184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6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Layers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1371600" y="3977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6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violations matter most, how do they propagate,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96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will they strike next — and what should we do about it?"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B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Visibility on Parking-Induced Congestion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5720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8988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patrolling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24128" y="1572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respond to complaints, not to data-ranked risk.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" y="2304288"/>
            <a:ext cx="45720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05456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24128" y="23957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heatmap linkage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24128" y="26883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logs exist but nothing ties them to actual delay caused.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0040" y="3419856"/>
            <a:ext cx="4572000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21024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24128" y="351129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zone priority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24128" y="38039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finite patrols, there is no way to rank 'clear this first.'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120640" y="1188720"/>
            <a:ext cx="3749040" cy="3401568"/>
          </a:xfrm>
          <a:prstGeom prst="roundRect">
            <a:avLst>
              <a:gd name="adj" fmla="val 4032"/>
            </a:avLst>
          </a:prstGeom>
          <a:solidFill>
            <a:srgbClr val="0A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5257800" y="1325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257800" y="173736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AI-driven parking intelligence detect illegal parking hotspots and quantify their impact on traffic flow to enable targeted enforcement?</a:t>
            </a:r>
            <a:endParaRPr lang="en-US" sz="14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15468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17920" y="3108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6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counting violations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96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measuring their cost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B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6-Layer End-to-End Intelligence Pipeline</a:t>
            </a:r>
            <a:endParaRPr lang="en-US" sz="2200" dirty="0"/>
          </a:p>
        </p:txBody>
      </p:sp>
      <p:pic>
        <p:nvPicPr>
          <p:cNvPr id="5" name="Image 0" descr="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24128"/>
            <a:ext cx="859536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B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vs IMPLEMENTATION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designed module is production-implemented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3291840" cy="438912"/>
          </a:xfrm>
          <a:prstGeom prst="roundRect">
            <a:avLst>
              <a:gd name="adj" fmla="val 14583"/>
            </a:avLst>
          </a:prstGeom>
          <a:solidFill>
            <a:srgbClr val="0D4F8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7899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Module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49040" y="1078992"/>
            <a:ext cx="3200400" cy="438912"/>
          </a:xfrm>
          <a:prstGeom prst="roundRect">
            <a:avLst>
              <a:gd name="adj" fmla="val 14583"/>
            </a:avLst>
          </a:prstGeom>
          <a:solidFill>
            <a:srgbClr val="0D4F8C"/>
          </a:solidFill>
          <a:ln/>
        </p:spPr>
      </p:sp>
      <p:sp>
        <p:nvSpPr>
          <p:cNvPr id="8" name="Text 6"/>
          <p:cNvSpPr/>
          <p:nvPr/>
        </p:nvSpPr>
        <p:spPr>
          <a:xfrm>
            <a:off x="3749040" y="107899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File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086600" y="1078992"/>
            <a:ext cx="1737360" cy="438912"/>
          </a:xfrm>
          <a:prstGeom prst="roundRect">
            <a:avLst>
              <a:gd name="adj" fmla="val 14583"/>
            </a:avLst>
          </a:prstGeom>
          <a:solidFill>
            <a:srgbClr val="0D4F8C"/>
          </a:solidFill>
          <a:ln/>
        </p:spPr>
      </p:sp>
      <p:sp>
        <p:nvSpPr>
          <p:cNvPr id="10" name="Text 8"/>
          <p:cNvSpPr/>
          <p:nvPr/>
        </p:nvSpPr>
        <p:spPr>
          <a:xfrm>
            <a:off x="7086600" y="107899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6693408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66420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Hotspot Intelligence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794760" y="166420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services/hotspot_service.py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86600" y="1627632"/>
            <a:ext cx="1737360" cy="3383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682496"/>
            <a:ext cx="237744" cy="23774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699248" y="170078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1975104"/>
            <a:ext cx="6693408" cy="338328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18" name="Text 15"/>
          <p:cNvSpPr/>
          <p:nvPr/>
        </p:nvSpPr>
        <p:spPr>
          <a:xfrm>
            <a:off x="347472" y="2011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Externality Index (PEI)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794760" y="20116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services/pei_service.py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86600" y="1975104"/>
            <a:ext cx="1737360" cy="338328"/>
          </a:xfrm>
          <a:prstGeom prst="rect">
            <a:avLst/>
          </a:prstGeom>
          <a:solidFill>
            <a:srgbClr val="EBF5FF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29968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699248" y="204825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74320" y="2322576"/>
            <a:ext cx="6693408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347472" y="235915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Hotspot Forecasting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794760" y="23591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services/forecast_service.py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086600" y="2322576"/>
            <a:ext cx="1737360" cy="3383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377440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699248" y="239572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274320" y="2670048"/>
            <a:ext cx="6693408" cy="338328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30" name="Text 25"/>
          <p:cNvSpPr/>
          <p:nvPr/>
        </p:nvSpPr>
        <p:spPr>
          <a:xfrm>
            <a:off x="347472" y="27066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Ripple Effect Analyzer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3794760" y="27066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services/delay_service.py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7086600" y="2670048"/>
            <a:ext cx="1737360" cy="338328"/>
          </a:xfrm>
          <a:prstGeom prst="rect">
            <a:avLst/>
          </a:prstGeom>
          <a:solidFill>
            <a:srgbClr val="EBF5FF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724912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699248" y="274320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274320" y="3017520"/>
            <a:ext cx="6693408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0"/>
          <p:cNvSpPr/>
          <p:nvPr/>
        </p:nvSpPr>
        <p:spPr>
          <a:xfrm>
            <a:off x="347472" y="30540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Simulator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3794760" y="305409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services/simulation_service.py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7086600" y="3017520"/>
            <a:ext cx="1737360" cy="3383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3072384"/>
            <a:ext cx="237744" cy="23774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699248" y="309067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274320" y="3364992"/>
            <a:ext cx="6693408" cy="338328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42" name="Text 35"/>
          <p:cNvSpPr/>
          <p:nvPr/>
        </p:nvSpPr>
        <p:spPr>
          <a:xfrm>
            <a:off x="347472" y="340156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 Layer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3794760" y="34015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services/explainability_service.py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7086600" y="3364992"/>
            <a:ext cx="1737360" cy="338328"/>
          </a:xfrm>
          <a:prstGeom prst="rect">
            <a:avLst/>
          </a:prstGeom>
          <a:solidFill>
            <a:srgbClr val="EBF5FF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3419856"/>
            <a:ext cx="237744" cy="23774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7699248" y="343814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274320" y="3712464"/>
            <a:ext cx="6693408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0"/>
          <p:cNvSpPr/>
          <p:nvPr/>
        </p:nvSpPr>
        <p:spPr>
          <a:xfrm>
            <a:off x="347472" y="37490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+ ByteTrack Detection</a:t>
            </a:r>
            <a:endParaRPr lang="en-US" sz="1050" dirty="0"/>
          </a:p>
        </p:txBody>
      </p:sp>
      <p:sp>
        <p:nvSpPr>
          <p:cNvPr id="49" name="Text 41"/>
          <p:cNvSpPr/>
          <p:nvPr/>
        </p:nvSpPr>
        <p:spPr>
          <a:xfrm>
            <a:off x="3794760" y="3749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services/detection_service.py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7086600" y="3712464"/>
            <a:ext cx="1737360" cy="3383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3767328"/>
            <a:ext cx="237744" cy="237744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7699248" y="37856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274320" y="4059936"/>
            <a:ext cx="6693408" cy="338328"/>
          </a:xfrm>
          <a:prstGeom prst="rect">
            <a:avLst/>
          </a:prstGeom>
          <a:solidFill>
            <a:srgbClr val="EBF5FF"/>
          </a:solidFill>
          <a:ln/>
        </p:spPr>
      </p:sp>
      <p:sp>
        <p:nvSpPr>
          <p:cNvPr id="54" name="Text 45"/>
          <p:cNvSpPr/>
          <p:nvPr/>
        </p:nvSpPr>
        <p:spPr>
          <a:xfrm>
            <a:off x="347472" y="40965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Memory Engine ★</a:t>
            </a:r>
            <a:endParaRPr lang="en-US" sz="1050" dirty="0"/>
          </a:p>
        </p:txBody>
      </p:sp>
      <p:sp>
        <p:nvSpPr>
          <p:cNvPr id="55" name="Text 46"/>
          <p:cNvSpPr/>
          <p:nvPr/>
        </p:nvSpPr>
        <p:spPr>
          <a:xfrm>
            <a:off x="3794760" y="40965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services/traffic_memory_service.py</a:t>
            </a:r>
            <a:endParaRPr lang="en-US" sz="1000" dirty="0"/>
          </a:p>
        </p:txBody>
      </p:sp>
      <p:sp>
        <p:nvSpPr>
          <p:cNvPr id="56" name="Shape 47"/>
          <p:cNvSpPr/>
          <p:nvPr/>
        </p:nvSpPr>
        <p:spPr>
          <a:xfrm>
            <a:off x="7086600" y="4059936"/>
            <a:ext cx="1737360" cy="338328"/>
          </a:xfrm>
          <a:prstGeom prst="rect">
            <a:avLst/>
          </a:prstGeom>
          <a:solidFill>
            <a:srgbClr val="EBF5FF"/>
          </a:solidFill>
          <a:ln/>
        </p:spPr>
      </p:sp>
      <p:pic>
        <p:nvPicPr>
          <p:cNvPr id="5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4114800"/>
            <a:ext cx="237744" cy="237744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7699248" y="413308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59" name="Shape 49"/>
          <p:cNvSpPr/>
          <p:nvPr/>
        </p:nvSpPr>
        <p:spPr>
          <a:xfrm>
            <a:off x="274320" y="4407408"/>
            <a:ext cx="6693408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0"/>
          <p:cNvSpPr/>
          <p:nvPr/>
        </p:nvSpPr>
        <p:spPr>
          <a:xfrm>
            <a:off x="347472" y="44439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Immunity Score (TIS) ★</a:t>
            </a:r>
            <a:endParaRPr lang="en-US" sz="1050" dirty="0"/>
          </a:p>
        </p:txBody>
      </p:sp>
      <p:sp>
        <p:nvSpPr>
          <p:cNvPr id="61" name="Text 51"/>
          <p:cNvSpPr/>
          <p:nvPr/>
        </p:nvSpPr>
        <p:spPr>
          <a:xfrm>
            <a:off x="3794760" y="444398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services/immunity_service.py</a:t>
            </a:r>
            <a:endParaRPr lang="en-US" sz="1000" dirty="0"/>
          </a:p>
        </p:txBody>
      </p:sp>
      <p:sp>
        <p:nvSpPr>
          <p:cNvPr id="62" name="Shape 52"/>
          <p:cNvSpPr/>
          <p:nvPr/>
        </p:nvSpPr>
        <p:spPr>
          <a:xfrm>
            <a:off x="7086600" y="4407408"/>
            <a:ext cx="1737360" cy="338328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6640" y="4462272"/>
            <a:ext cx="237744" cy="237744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7699248" y="448056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" y="4773168"/>
            <a:ext cx="201168" cy="201168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585216" y="4773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Indicates a new innovation beyond the original blueprint — detailed on the next slides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32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Production Modules — Detection → Impact → Prediction → Decision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1020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328" y="120700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1234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38328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Hotspot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38328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spatial clustering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time-of-day band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41448" y="109728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1020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120700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08376" y="1234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551176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CV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551176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+ ByteTrack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stationary-duration logic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54296" y="109728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1020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120700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21224" y="1234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764024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Externality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(PEI)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764024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5-factor weighted score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0–100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867144" y="109728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1020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872" y="120700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34072" y="1234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976872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Hotspot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976872" y="2194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24-hour risk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forecasting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228600" y="297180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1020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" y="3081528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5528" y="3108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338328" y="3474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Ripple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8328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1st &amp; 2nd hop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modeling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2441448" y="297180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1020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1176" y="3081528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008376" y="3108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2551176" y="3474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2551176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Patrol/Tow/Barricade/Fine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scenarios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654296" y="297180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1020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024" y="3081528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221224" y="3108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4764024" y="3474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39" name="Text 30"/>
          <p:cNvSpPr/>
          <p:nvPr/>
        </p:nvSpPr>
        <p:spPr>
          <a:xfrm>
            <a:off x="4764024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SHAP waterfall plots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feature importance</a:t>
            </a:r>
            <a:endParaRPr lang="en-US" sz="950" dirty="0"/>
          </a:p>
        </p:txBody>
      </p:sp>
      <p:sp>
        <p:nvSpPr>
          <p:cNvPr id="40" name="Shape 31"/>
          <p:cNvSpPr/>
          <p:nvPr/>
        </p:nvSpPr>
        <p:spPr>
          <a:xfrm>
            <a:off x="6867144" y="2971800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102040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76872" y="3081528"/>
            <a:ext cx="384048" cy="38404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434072" y="31089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6976872" y="3474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</a:t>
            </a:r>
            <a:endParaRPr lang="en-US" sz="1200" dirty="0"/>
          </a:p>
        </p:txBody>
      </p:sp>
      <p:sp>
        <p:nvSpPr>
          <p:cNvPr id="44" name="Text 34"/>
          <p:cNvSpPr/>
          <p:nvPr/>
        </p:nvSpPr>
        <p:spPr>
          <a:xfrm>
            <a:off x="6976872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Delay, fuel, CO₂ metrics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intervention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32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INNOVATIONS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 Capabilities Beyond the Blueprint — Exclusive to Implementation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4114800" cy="3749040"/>
          </a:xfrm>
          <a:prstGeom prst="roundRect">
            <a:avLst>
              <a:gd name="adj" fmla="val 4390"/>
            </a:avLst>
          </a:prstGeom>
          <a:solidFill>
            <a:srgbClr val="1020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1872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2618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Memory Engine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1609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services/traffic_memory_service.py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9933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institutional memory from historical interventions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250545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per-junction success rates for Tow / Patrol / Fine / Barricade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30175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recurrence ratios &amp; average blockage durations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352958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Advises dispatcher: which intervention cleared fastest, historically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40416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Outcome-aware: learns from every resolved violation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754880" y="1115568"/>
            <a:ext cx="4114800" cy="3749040"/>
          </a:xfrm>
          <a:prstGeom prst="roundRect">
            <a:avLst>
              <a:gd name="adj" fmla="val 4390"/>
            </a:avLst>
          </a:prstGeom>
          <a:solidFill>
            <a:srgbClr val="1020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61872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77840" y="126187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Immunity Score (TIS)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577840" y="1609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services/immunity_service.py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919472" y="1965960"/>
            <a:ext cx="3794760" cy="804672"/>
          </a:xfrm>
          <a:prstGeom prst="roundRect">
            <a:avLst>
              <a:gd name="adj" fmla="val 9091"/>
            </a:avLst>
          </a:prstGeom>
          <a:solidFill>
            <a:srgbClr val="0A2540"/>
          </a:solidFill>
          <a:ln/>
        </p:spPr>
      </p:sp>
      <p:sp>
        <p:nvSpPr>
          <p:cNvPr id="19" name="Text 15"/>
          <p:cNvSpPr/>
          <p:nvPr/>
        </p:nvSpPr>
        <p:spPr>
          <a:xfrm>
            <a:off x="5010912" y="201168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EE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TIS = 0.30×Recovery Speed + 0.25×Intervention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E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Effectiveness + 0.20×Spillover Resistance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EE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+ 0.15×Recurrence Resistance + 0.10×Sustainability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919472" y="2871216"/>
            <a:ext cx="3794760" cy="512064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/>
        </p:spPr>
      </p:sp>
      <p:sp>
        <p:nvSpPr>
          <p:cNvPr id="21" name="Text 17"/>
          <p:cNvSpPr/>
          <p:nvPr/>
        </p:nvSpPr>
        <p:spPr>
          <a:xfrm>
            <a:off x="5047488" y="291693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   (0–40)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766560" y="29260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immediate gridlocks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919472" y="3493008"/>
            <a:ext cx="3794760" cy="512064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/>
        </p:spPr>
      </p:sp>
      <p:sp>
        <p:nvSpPr>
          <p:cNvPr id="24" name="Text 20"/>
          <p:cNvSpPr/>
          <p:nvPr/>
        </p:nvSpPr>
        <p:spPr>
          <a:xfrm>
            <a:off x="5047488" y="35387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 (41–70)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766560" y="3547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high-severity events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919472" y="4114800"/>
            <a:ext cx="3794760" cy="512064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/>
        </p:spPr>
      </p:sp>
      <p:sp>
        <p:nvSpPr>
          <p:cNvPr id="27" name="Text 23"/>
          <p:cNvSpPr/>
          <p:nvPr/>
        </p:nvSpPr>
        <p:spPr>
          <a:xfrm>
            <a:off x="5047488" y="41605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(71–100)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766560" y="41696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Absorbs disruptions rapidly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B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SMART CITY DEMO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Autoplay Story Mode — Judge-Ready Walkthrough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1115568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22529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" y="182880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CV Detection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65376" y="182880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75104" y="1115568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2032" y="1225296"/>
            <a:ext cx="502920" cy="502920"/>
          </a:xfrm>
          <a:prstGeom prst="ellipse">
            <a:avLst/>
          </a:prstGeom>
          <a:solidFill>
            <a:srgbClr val="0D4F8C"/>
          </a:solidFill>
          <a:ln/>
        </p:spPr>
      </p:sp>
      <p:sp>
        <p:nvSpPr>
          <p:cNvPr id="12" name="Text 10"/>
          <p:cNvSpPr/>
          <p:nvPr/>
        </p:nvSpPr>
        <p:spPr>
          <a:xfrm>
            <a:off x="2542032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066544" y="182880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Hotspot Map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39312" y="182880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115568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15968" y="1225296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315968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182880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 Severity Scoring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13248" y="182880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22976" y="1115568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9904" y="1225296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6089904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14416" y="182880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Risk Forecast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87184" y="182880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96912" y="1115568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0" y="1225296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1225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88352" y="182880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Commander Rec.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1168" y="2852928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8096" y="2962656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92608" y="356616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Memory Profile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865376" y="356616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75104" y="2852928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42032" y="2962656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2542032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066544" y="356616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Simulation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39312" y="356616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49040" y="2852928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315968" y="2962656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4315968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840480" y="356616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Immunity (TIS)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13248" y="356616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22976" y="2852928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89904" y="2962656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6" name="Text 44"/>
          <p:cNvSpPr/>
          <p:nvPr/>
        </p:nvSpPr>
        <p:spPr>
          <a:xfrm>
            <a:off x="6089904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5614416" y="356616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Analytics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187184" y="3566160"/>
            <a:ext cx="9144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96912" y="2852928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863840" y="2962656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1" name="Text 49"/>
          <p:cNvSpPr/>
          <p:nvPr/>
        </p:nvSpPr>
        <p:spPr>
          <a:xfrm>
            <a:off x="7863840" y="2962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388352" y="3566160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PDF Briefing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32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BACKEND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Pipeline — Tested with 10 Pytest Cases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10204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7043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 •  ByteTrack  •  OpenCV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73352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102040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74650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764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•  DBSCAN  •  SHAP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49424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102040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3225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23408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(ripple propagation)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25496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102040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8986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29169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•  SQLite / PostGIS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401568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102040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474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34930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•  Plotly  •  Folium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4206240" cy="512064"/>
          </a:xfrm>
          <a:prstGeom prst="roundRect">
            <a:avLst>
              <a:gd name="adj" fmla="val 14286"/>
            </a:avLst>
          </a:prstGeom>
          <a:solidFill>
            <a:srgbClr val="102040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0507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Maps/GIS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63040" y="40690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  •  Haversine DBSCAN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4114800" cy="3657600"/>
          </a:xfrm>
          <a:prstGeom prst="roundRect">
            <a:avLst>
              <a:gd name="adj" fmla="val 3750"/>
            </a:avLst>
          </a:prstGeom>
          <a:solidFill>
            <a:srgbClr val="10204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92040" y="1207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1627632"/>
            <a:ext cx="3794760" cy="512064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17373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96128" y="17190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/api/hotspots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50608" y="17190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clusters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92040" y="2240280"/>
            <a:ext cx="3794760" cy="512064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235000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596128" y="2331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/api/leaderboard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50608" y="23317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 ranking leaderboard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2852928"/>
            <a:ext cx="3794760" cy="512064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29626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96128" y="29443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/api/forecast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50608" y="2944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risk probability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3465576"/>
            <a:ext cx="3794760" cy="512064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357530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96128" y="355701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/api/simulate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50608" y="35570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intervention matrix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92040" y="4078224"/>
            <a:ext cx="3794760" cy="512064"/>
          </a:xfrm>
          <a:prstGeom prst="roundRect">
            <a:avLst>
              <a:gd name="adj" fmla="val 12500"/>
            </a:avLst>
          </a:prstGeom>
          <a:solidFill>
            <a:srgbClr val="0A2540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41879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596128" y="416966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E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/api/detect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50608" y="4169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CV tracking output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4617720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062040"/>
          </a:solidFill>
          <a:ln/>
        </p:spPr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4681728"/>
            <a:ext cx="256032" cy="256032"/>
          </a:xfrm>
          <a:prstGeom prst="rect">
            <a:avLst/>
          </a:prstGeom>
        </p:spPr>
      </p:pic>
      <p:sp>
        <p:nvSpPr>
          <p:cNvPr id="47" name="Text 44"/>
          <p:cNvSpPr/>
          <p:nvPr/>
        </p:nvSpPr>
        <p:spPr>
          <a:xfrm>
            <a:off x="777240" y="468172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automated Pytest cases validate all models, pipelines, services, and REST APIs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B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MODELS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Externality Index (PEI)  ×  Traffic Immunity Score (TIS)</a:t>
            </a:r>
            <a:endParaRPr lang="en-US" sz="1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43891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169664"/>
            <a:ext cx="438912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274320" y="4169664"/>
            <a:ext cx="438912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274320" y="4169664"/>
            <a:ext cx="438912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" y="4206240"/>
            <a:ext cx="1389888" cy="658368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4251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40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" y="45262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783080" y="4206240"/>
            <a:ext cx="1389888" cy="65836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1783080" y="4251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– 70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783080" y="45262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91840" y="4206240"/>
            <a:ext cx="1389888" cy="658368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16" name="Text 13"/>
          <p:cNvSpPr/>
          <p:nvPr/>
        </p:nvSpPr>
        <p:spPr>
          <a:xfrm>
            <a:off x="3291840" y="425196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– 100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91840" y="4526280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graphicFrame>
        <p:nvGraphicFramePr>
          <p:cNvPr id="18" name="Chart 1" descr=""/>
          <p:cNvGraphicFramePr/>
          <p:nvPr/>
        </p:nvGraphicFramePr>
        <p:xfrm>
          <a:off x="4754880" y="1051560"/>
          <a:ext cx="4114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5"/>
          <p:cNvSpPr/>
          <p:nvPr/>
        </p:nvSpPr>
        <p:spPr>
          <a:xfrm>
            <a:off x="4754880" y="4206240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475488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40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754880" y="4526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44768" y="4206240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/>
        </p:spPr>
      </p:sp>
      <p:sp>
        <p:nvSpPr>
          <p:cNvPr id="23" name="Text 19"/>
          <p:cNvSpPr/>
          <p:nvPr/>
        </p:nvSpPr>
        <p:spPr>
          <a:xfrm>
            <a:off x="6144768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– 70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144768" y="4526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534656" y="4206240"/>
            <a:ext cx="1280160" cy="658368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26" name="Text 22"/>
          <p:cNvSpPr/>
          <p:nvPr/>
        </p:nvSpPr>
        <p:spPr>
          <a:xfrm>
            <a:off x="7534656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– 100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7534656" y="45262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32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EDGE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65760" y="42062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ParkTwin AI Wins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3886200" cy="3794760"/>
          </a:xfrm>
          <a:prstGeom prst="roundRect">
            <a:avLst>
              <a:gd name="adj" fmla="val 3614"/>
            </a:avLst>
          </a:prstGeom>
          <a:solidFill>
            <a:srgbClr val="1A0A0A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7043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188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Other Teams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16642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illegal parking ✓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20574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violations by area ✓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24505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heatmap ✓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28437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impact measurement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7200" y="323697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propagation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36301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memory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4023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resilience quantification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44165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resource optimizer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937760" y="1078992"/>
            <a:ext cx="3886200" cy="3794760"/>
          </a:xfrm>
          <a:prstGeom prst="roundRect">
            <a:avLst>
              <a:gd name="adj" fmla="val 3614"/>
            </a:avLst>
          </a:prstGeom>
          <a:solidFill>
            <a:srgbClr val="021A10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170432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532120" y="1188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ParkTwin AI</a:t>
            </a:r>
            <a:endParaRPr lang="en-US" sz="15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82496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21808" y="168249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→ impact → prediction</a:t>
            </a:r>
            <a:endParaRPr lang="en-US" sz="11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07568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21808" y="2075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 PEI — 5-factor burden score</a:t>
            </a:r>
            <a:endParaRPr lang="en-US" sz="11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468880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321808" y="2468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delay attribution</a:t>
            </a:r>
            <a:endParaRPr lang="en-US" sz="11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862072"/>
            <a:ext cx="219456" cy="21945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21808" y="2862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congestion propagation</a:t>
            </a:r>
            <a:endParaRPr lang="en-US" sz="11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255264"/>
            <a:ext cx="219456" cy="2194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321808" y="32552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24-hr forecasting</a:t>
            </a:r>
            <a:endParaRPr lang="en-US" sz="11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648456"/>
            <a:ext cx="219456" cy="21945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321808" y="364845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what-if simulation</a:t>
            </a:r>
            <a:endParaRPr lang="en-US" sz="11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0" y="4041648"/>
            <a:ext cx="219456" cy="219456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321808" y="4041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Memory (institutional learning)</a:t>
            </a:r>
            <a:endParaRPr lang="en-US" sz="115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9200" y="4434840"/>
            <a:ext cx="219456" cy="219456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321808" y="4434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Immunity Score (resilience)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6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50292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ParkTwin AI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2286000" y="2331720"/>
            <a:ext cx="4572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2468880"/>
            <a:ext cx="8046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6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illegal parking enforcement from reactive patrolling into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6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congestion intelligence — combining real-time CV, novel PEI scoring,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6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impact attribution, XGBoost forecasting, digital twin simulation,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96B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institutional Traffic Memory to prevent congestion before it happens.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163256"/>
          </a:solidFill>
          <a:ln/>
        </p:spPr>
      </p:sp>
      <p:sp>
        <p:nvSpPr>
          <p:cNvPr id="8" name="Text 5"/>
          <p:cNvSpPr/>
          <p:nvPr/>
        </p:nvSpPr>
        <p:spPr>
          <a:xfrm>
            <a:off x="91440" y="4407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Modules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920240" y="4407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Pipeline Layers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9040" y="4407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Pytest Cases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77840" y="4407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406640" y="440740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Demo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ParkTwin AI — Hackathon Pitch</dc:title>
  <dc:subject>PptxGenJS Presentation</dc:subject>
  <dc:creator>PptxGenJS</dc:creator>
  <cp:lastModifiedBy>PptxGenJS</cp:lastModifiedBy>
  <cp:revision>1</cp:revision>
  <dcterms:created xsi:type="dcterms:W3CDTF">2026-06-19T05:48:22Z</dcterms:created>
  <dcterms:modified xsi:type="dcterms:W3CDTF">2026-06-19T05:48:22Z</dcterms:modified>
</cp:coreProperties>
</file>